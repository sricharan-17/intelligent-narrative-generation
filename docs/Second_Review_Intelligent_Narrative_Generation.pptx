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66" r:id="rId6"/>
    <p:sldId id="271" r:id="rId17"/>
    <p:sldId id="270" r:id="rId16"/>
    <p:sldId id="267" r:id="rId7"/>
    <p:sldId id="268" r:id="rId8"/>
    <p:sldId id="269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dPt>
            <c:idx val="0"/>
            <c:spPr>
              <a:solidFill>
                <a:srgbClr val="5B2D8E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4DCEF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Implemented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57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team, the project title and that this is the Second Review. Supervisor name to be filled in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Traditional game narratives are authored by hand and do not scale or adapt. Plain LLM generation is fluent but not grounded in the current game state. Our goal: a modular, context-aware narrative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pipeline left to right. Emphasise that each stage is a separate module so it can be tested and replaced independently. Formula from the paper: N = G(P(q,S), R(P(q,S),K),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8090D-1310-519F-5922-4538411E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1B48E-6A91-59CD-16A0-ECEA70B01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BC09A-AB91-AC27-D2EF-F6E82FCB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 modules, each mapped to a folder in the repository.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1D7E5-C027-4B9A-7BDC-16A9DCAE2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94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966A-B7A4-35B8-5B5C-B34AEDF6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9EACF-65FA-43D6-F520-069F05996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E701F-E893-013A-4EFC-18CB15510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GameStateManager returns deep copies; only the StateUpdater modifies state, and only after the generated response is validated. State changes are explicit and never inferred from generated 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DC16D-1A7C-3574-344C-82104FD0BF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4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5308-700E-D8CE-9CA4-246DE500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8FD63-D501-44A1-FE90-FC8678C07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9017B-D409-7863-D55C-FC8872153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Status labels are qualitative. No per-module percentages are claimed.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AC1CE-2640-9BF9-7E55-87E41AD9A7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0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C1018-FA6A-B496-7A08-F4B77F5A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548C1-1747-E0A2-FFF8-DF8D037B1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6B4AD-954C-5FF1-9677-03B461C69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each dashed placeholder with the actual screenshot from your runs before the review. Then run the live demo: python scripts/run_prototype.py (use --fake for the deterministic mode, or without it to load the fine-tuned adapter).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192CF-A040-B70F-65BF-E103AB8C7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42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572C0-73C3-7959-C490-FD20BCA2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D0030-C9FB-8038-7DCC-311F51BD8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9F557-10AC-A36F-3509-4E83FAF2C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~80% refers to implementation progress of the planned system components. It is not an accuracy or quality metric. The remaining work is mostly integration and systematic evaluation.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E7E0C-646C-233C-65B7-B02ED90C3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0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E701F-E893-013A-4EFC-18CB15510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Knowledge is indexed with a weighted inverted index (title, entity, content and metadata fields, IDF scaling, entity/location boosts). Results below a minimum score are filtered out; top-k are returned. No retrieval metrics are claimed yet.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E701F-E893-013A-4EFC-18CB15510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NarrativeGenerator loads SmolLM2-1.7B-Instruct with the LoRA adapter (4-bit on CUDA, CPU fallback). NarrativePromptBuilder turns NarrativeContext into a chat prompt. ResponseValidator rejects empty output, prompt leakage, input echo, speaker prefixes and over-long responses before any state update.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D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028432" y="0"/>
            <a:ext cx="320040" cy="6858000"/>
          </a:xfrm>
          <a:prstGeom prst="rect">
            <a:avLst/>
          </a:prstGeom>
          <a:solidFill>
            <a:srgbClr val="FFD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4572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re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432304" cy="649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459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0352" y="2240280"/>
            <a:ext cx="822960" cy="54864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NARRATIVE GENERATION USING CONTEXT-AWARE RETRIEVAL AND ADAPTED LARGE LANGUAGE MODELS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484632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3D1F5E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5010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53035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&lt;Supervisor Name with Designation&gt;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931920" y="484632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3D1F5E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160520" y="5010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STUDENT(S)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60520" y="530352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SHAMVRUHT K</a:t>
            </a:r>
            <a:endParaRPr lang="en-US" sz="1400" dirty="0"/>
          </a:p>
          <a:p>
            <a:pPr marL="0" indent="0">
              <a:buNone/>
            </a:pPr>
            <a:r>
              <a:rPr lang="en-US" sz="1300" i="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SANJEY RAM KUMAR</a:t>
            </a:r>
            <a:endParaRPr lang="en-US" sz="1400" dirty="0"/>
          </a:p>
          <a:p>
            <a:pPr marL="0" indent="0">
              <a:buNone/>
            </a:pPr>
            <a:r>
              <a:rPr lang="en-US" sz="1300" i="0" dirty="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CHARAN N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BBB325-C186-113D-6513-2307EE824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142" y="261257"/>
            <a:ext cx="3237140" cy="6161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B9E4186-B584-AA67-46EB-18CDF04CEF39}"/>
              </a:ext>
            </a:extLst>
          </p:cNvPr>
          <p:cNvGrpSpPr/>
          <p:nvPr/>
        </p:nvGrpSpPr>
        <p:grpSpPr>
          <a:xfrm>
            <a:off x="194200" y="306324"/>
            <a:ext cx="11366429" cy="6245352"/>
            <a:chOff x="457200" y="502920"/>
            <a:chExt cx="11366429" cy="6245352"/>
          </a:xfrm>
        </p:grpSpPr>
        <p:sp>
          <p:nvSpPr>
            <p:cNvPr id="2" name="Shape 0"/>
            <p:cNvSpPr/>
            <p:nvPr/>
          </p:nvSpPr>
          <p:spPr>
            <a:xfrm>
              <a:off x="54864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1"/>
            <p:cNvSpPr/>
            <p:nvPr/>
          </p:nvSpPr>
          <p:spPr>
            <a:xfrm>
              <a:off x="1456509" y="514242"/>
              <a:ext cx="10177272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rgbClr val="5B2D8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 Statement</a:t>
              </a:r>
              <a:endParaRPr lang="en-US" sz="3200" dirty="0"/>
            </a:p>
          </p:txBody>
        </p:sp>
        <p:sp>
          <p:nvSpPr>
            <p:cNvPr id="5" name="Shape 2"/>
            <p:cNvSpPr/>
            <p:nvPr/>
          </p:nvSpPr>
          <p:spPr>
            <a:xfrm>
              <a:off x="1572768" y="1298448"/>
              <a:ext cx="1280160" cy="50292"/>
            </a:xfrm>
            <a:prstGeom prst="rect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3"/>
            <p:cNvSpPr/>
            <p:nvPr/>
          </p:nvSpPr>
          <p:spPr>
            <a:xfrm>
              <a:off x="882175" y="1807027"/>
              <a:ext cx="10941454" cy="4300509"/>
            </a:xfrm>
            <a:prstGeom prst="roundRect">
              <a:avLst>
                <a:gd name="adj" fmla="val 2273"/>
              </a:avLst>
            </a:prstGeom>
            <a:solidFill>
              <a:srgbClr val="F4F1F8"/>
            </a:solidFill>
            <a:ln w="12700">
              <a:solidFill>
                <a:srgbClr val="E1D6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1"/>
            <p:cNvSpPr/>
            <p:nvPr/>
          </p:nvSpPr>
          <p:spPr>
            <a:xfrm>
              <a:off x="457200" y="647395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756B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Second Review</a:t>
              </a:r>
              <a:endParaRPr lang="en-US" sz="10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5788152" y="6473952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756B8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Department of Artificial Intelligence and Data Science</a:t>
              </a:r>
              <a:endParaRPr lang="en-US" sz="10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457200" y="6400800"/>
              <a:ext cx="11274552" cy="0"/>
            </a:xfrm>
            <a:prstGeom prst="line">
              <a:avLst/>
            </a:prstGeom>
            <a:noFill/>
            <a:ln w="9525">
              <a:solidFill>
                <a:srgbClr val="E2D9E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EF59959-A9CC-C525-9A45-5C973964C68F}"/>
              </a:ext>
            </a:extLst>
          </p:cNvPr>
          <p:cNvSpPr txBox="1"/>
          <p:nvPr/>
        </p:nvSpPr>
        <p:spPr>
          <a:xfrm>
            <a:off x="525670" y="479054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96596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B2D8E"/>
                </a:solidFill>
                <a:latin typeface="Arial"/>
              </a:rPr>
              <a:t>Why conventional narrative systems fall short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0" y="2432304"/>
            <a:ext cx="384048" cy="384048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237744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Static authoring  </a:t>
            </a:r>
            <a:r>
              <a:rPr sz="1250" b="0" i="0">
                <a:solidFill>
                  <a:srgbClr val="2E2340"/>
                </a:solidFill>
                <a:latin typeface="Arial"/>
              </a:rPr>
              <a:t>Predefined dialogue, fixed story branches, scripted events and manually authored responses.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0" y="3044952"/>
            <a:ext cx="384048" cy="384048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99008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Poor scalability  </a:t>
            </a:r>
            <a:r>
              <a:rPr sz="1250" b="0" i="0">
                <a:solidFill>
                  <a:srgbClr val="2E2340"/>
                </a:solidFill>
                <a:latin typeface="Arial"/>
              </a:rPr>
              <a:t>Manual authoring becomes difficult to scale as the number of possible interactions grows.</a:t>
            </a:r>
          </a:p>
        </p:txBody>
      </p:sp>
      <p:sp>
        <p:nvSpPr>
          <p:cNvPr id="26" name="Oval 25"/>
          <p:cNvSpPr/>
          <p:nvPr/>
        </p:nvSpPr>
        <p:spPr>
          <a:xfrm>
            <a:off x="1188720" y="3657600"/>
            <a:ext cx="384048" cy="384048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602736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Limited adaptivity  </a:t>
            </a:r>
            <a:r>
              <a:rPr sz="1250" b="0" i="0">
                <a:solidFill>
                  <a:srgbClr val="2E2340"/>
                </a:solidFill>
                <a:latin typeface="Arial"/>
              </a:rPr>
              <a:t>Static narratives cannot adapt dynamically to changing game state and context.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0" y="4270248"/>
            <a:ext cx="384048" cy="384048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215384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Ungrounded LLM output  </a:t>
            </a:r>
            <a:r>
              <a:rPr sz="1250" b="0" i="0">
                <a:solidFill>
                  <a:srgbClr val="2E2340"/>
                </a:solidFill>
                <a:latin typeface="Arial"/>
              </a:rPr>
              <a:t>Direct LLM generation is fluent but may ignore game state, previous events, characters or world information.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1965960"/>
            <a:ext cx="43891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1031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B2D8E"/>
                </a:solidFill>
                <a:latin typeface="Arial"/>
              </a:rPr>
              <a:t>What is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43230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200" b="0" i="1">
                <a:solidFill>
                  <a:srgbClr val="756B85"/>
                </a:solidFill>
                <a:latin typeface="Arial"/>
              </a:rPr>
              <a:t>A modular system that combines: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29260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0" y="2834640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E2340"/>
                </a:solidFill>
                <a:latin typeface="Arial"/>
              </a:rPr>
              <a:t>Structured game / input state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3364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0" y="3273552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E2340"/>
                </a:solidFill>
                <a:latin typeface="Arial"/>
              </a:rPr>
              <a:t>Contextual retrieval (RAG)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380390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0" y="3712464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E2340"/>
                </a:solidFill>
                <a:latin typeface="Arial"/>
              </a:rPr>
              <a:t>Adapted language model (LoRA)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360" y="424281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0" y="4151376"/>
            <a:ext cx="3657600" cy="384048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2E2340"/>
                </a:solidFill>
                <a:latin typeface="Arial"/>
              </a:rPr>
              <a:t>Controlled narrative generation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4892040"/>
            <a:ext cx="10424160" cy="1024128"/>
          </a:xfrm>
          <a:prstGeom prst="roundRect">
            <a:avLst>
              <a:gd name="adj" fmla="val 12000"/>
            </a:avLst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371600" y="4965192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F5C518"/>
                </a:solidFill>
                <a:latin typeface="Arial"/>
              </a:rPr>
              <a:t>PROBLEM STATEMENT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212080"/>
            <a:ext cx="10012680" cy="6400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Develop a context-aware intelligent narrative-generation pipeline that can use interaction state and retrieved contextual information to generate dynamic narrative content.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85E7B5D-5D49-F261-9163-7C83E699F2D2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/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28D8CF-C61E-8FFF-0FC9-168600F5B5EC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D23FFF0A-4AD0-DD56-3674-B8D76263D4E5}"/>
              </a:ext>
            </a:extLst>
          </p:cNvPr>
          <p:cNvSpPr/>
          <p:nvPr/>
        </p:nvSpPr>
        <p:spPr>
          <a:xfrm>
            <a:off x="30305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1051560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Game / User Input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04288" y="2537460"/>
            <a:ext cx="19659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528315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Input &amp; State Processing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81044" y="2537460"/>
            <a:ext cx="196595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05071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Context Construction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57799" y="2537460"/>
            <a:ext cx="19659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1827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RAG Retrieval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34555" y="2537460"/>
            <a:ext cx="19659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958583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LLM Integration Layer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11311" y="2537460"/>
            <a:ext cx="196597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435340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Adapted LLM + LoRA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8067" y="2537460"/>
            <a:ext cx="196597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12095" y="2057400"/>
            <a:ext cx="1225296" cy="960120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Narrative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3127248"/>
            <a:ext cx="2702051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1050" b="1" i="0">
                <a:solidFill>
                  <a:srgbClr val="756B85"/>
                </a:solidFill>
                <a:latin typeface="Arial"/>
              </a:rPr>
              <a:t>Application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5071" y="3127248"/>
            <a:ext cx="2702052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1050" b="1" i="0">
                <a:solidFill>
                  <a:srgbClr val="756B85"/>
                </a:solidFill>
                <a:latin typeface="Arial"/>
              </a:rPr>
              <a:t>Context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58583" y="3127248"/>
            <a:ext cx="2702052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1050" b="1" i="0">
                <a:solidFill>
                  <a:srgbClr val="756B85"/>
                </a:solidFill>
                <a:latin typeface="Arial"/>
              </a:rPr>
              <a:t>Model layer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12095" y="3127248"/>
            <a:ext cx="1225295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1050" b="1" i="0">
                <a:solidFill>
                  <a:srgbClr val="756B85"/>
                </a:solidFill>
                <a:latin typeface="Arial"/>
              </a:rPr>
              <a:t>Output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" y="3584448"/>
            <a:ext cx="1008583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80160" y="363931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756B85"/>
                </a:solidFill>
                <a:latin typeface="Arial"/>
              </a:rPr>
              <a:t>KEY DESIGN PRINCIPLE</a:t>
            </a:r>
          </a:p>
          <a:p>
            <a:pPr algn="l">
              <a:buNone/>
            </a:pPr>
            <a:r>
              <a:rPr sz="1350" b="1" i="0">
                <a:solidFill>
                  <a:srgbClr val="5B2D8E"/>
                </a:solidFill>
                <a:latin typeface="Arial"/>
              </a:rPr>
              <a:t>Separate application state, retrieval, model interaction and narrative generation into modular components.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639312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buNone/>
            </a:pPr>
            <a:r>
              <a:rPr sz="1300" b="1" i="1">
                <a:solidFill>
                  <a:srgbClr val="3D1F5E"/>
                </a:solidFill>
                <a:latin typeface="Cambria"/>
              </a:rPr>
              <a:t>N = G( P(q,S), R(P(q,S),K), M )</a:t>
            </a:r>
          </a:p>
          <a:p>
            <a:pPr algn="ctr">
              <a:buNone/>
            </a:pPr>
            <a:r>
              <a:rPr sz="950" b="0" i="0">
                <a:solidFill>
                  <a:srgbClr val="756B85"/>
                </a:solidFill>
                <a:latin typeface="Arial"/>
              </a:rPr>
              <a:t>q: input · S: state · K: knowledge · M: adapted model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" y="4526280"/>
            <a:ext cx="235000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216151" y="466344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1" y="5120640"/>
            <a:ext cx="2020824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2E2340"/>
                </a:solidFill>
                <a:latin typeface="Arial"/>
              </a:rPr>
              <a:t>Input is converted into structured interaction information.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30168" y="4526280"/>
            <a:ext cx="235000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794759" y="466344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59" y="5120640"/>
            <a:ext cx="2020824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2E2340"/>
                </a:solidFill>
                <a:latin typeface="Arial"/>
              </a:rPr>
              <a:t>Relevant context is retrieved from the knowledge source.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08775" y="4526280"/>
            <a:ext cx="235000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73367" y="466344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7" y="5120640"/>
            <a:ext cx="2020824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2E2340"/>
                </a:solidFill>
                <a:latin typeface="Arial"/>
              </a:rPr>
              <a:t>Retrieved context and interaction information are combined.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87384" y="4526280"/>
            <a:ext cx="235000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8951976" y="4663440"/>
            <a:ext cx="384048" cy="38404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51976" y="5120640"/>
            <a:ext cx="2020824" cy="8686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2E2340"/>
                </a:solidFill>
                <a:latin typeface="Arial"/>
              </a:rPr>
              <a:t>The adapted LLM generates the narrative, returned to the game /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189B-7B77-F7C5-9DBC-1099BE6B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531E40F3-7633-D627-64E7-0D01FEE6E6AF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Modules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536AAEF-E73A-9F73-6DB2-28B89C9FE478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DB2F884-0BC8-9063-7FDF-6ADEC7D4B8B9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4057191-7625-C341-5520-B9BACE1287BF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5B6BAC3-28A6-65A0-BAA1-5663528059F9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DEB226-C499-1236-C9E8-45C62D166819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A977C0EE-9E53-DD71-0B3C-7B341A77AD72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AC8D06-CB48-4AE9-7177-3BA7A4B9B931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D34242E8-EF58-5C7B-B540-19C2B0CE810D}"/>
              </a:ext>
            </a:extLst>
          </p:cNvPr>
          <p:cNvSpPr/>
          <p:nvPr/>
        </p:nvSpPr>
        <p:spPr>
          <a:xfrm>
            <a:off x="194200" y="64878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1051560" y="2029968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188719" y="2157984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39" y="2194560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game/gamestate/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2633472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GameState / Application State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3163824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Authoritative state: location, characters, objects, inventory, history.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30168" y="2029968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3767328" y="2157984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2194560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game/…/interaction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2633472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Input &amp; State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3163824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Converts player input into a structured Interaction and context snapshot.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5" y="2029968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45936" y="2157984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8855" y="2194560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rag/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633472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Context Retrieval / RAG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3163824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Indexes world knowledge and returns the top-k relevant context.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87384" y="2029968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924544" y="2157984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7463" y="2194560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llm/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2633472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LLM Integration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3163824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Prompt builder and generator; isolates all model-specific calls.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40864" y="4105655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478024" y="4233671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80944" y="4270247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models/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8024" y="4709159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Adapted LLM / LoRA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78024" y="5239512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SmolLM2-1.7B-Instruct base model with a trained LoRA adapter.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19472" y="4105655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5056632" y="4233671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9552" y="4270247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game/pipeline/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56632" y="4709159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Narrative Generation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56632" y="5239512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Input → context → generate → validate → state update → output.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4105655"/>
            <a:ext cx="235000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7635240" y="4233671"/>
            <a:ext cx="402336" cy="40233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400" b="1" i="0">
                <a:solidFill>
                  <a:srgbClr val="3D1F5E"/>
                </a:solidFill>
                <a:latin typeface="Arial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59" y="4270247"/>
            <a:ext cx="160020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r">
              <a:buNone/>
            </a:pPr>
            <a:r>
              <a:rPr sz="950" b="0" i="0">
                <a:solidFill>
                  <a:srgbClr val="756B85"/>
                </a:solidFill>
                <a:latin typeface="Courier New"/>
              </a:rPr>
              <a:t>tests/ · experiments/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709159"/>
            <a:ext cx="2075688" cy="51206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5B2D8E"/>
                </a:solidFill>
                <a:latin typeface="Arial"/>
              </a:rPr>
              <a:t>Testing &amp;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5239512"/>
            <a:ext cx="2075688" cy="6858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2E2340"/>
                </a:solidFill>
                <a:latin typeface="Arial"/>
              </a:rPr>
              <a:t>Automated module tests and model-level CUDA execution tests.</a:t>
            </a:r>
          </a:p>
        </p:txBody>
      </p:sp>
    </p:spTree>
    <p:extLst>
      <p:ext uri="{BB962C8B-B14F-4D97-AF65-F5344CB8AC3E}">
        <p14:creationId xmlns:p14="http://schemas.microsoft.com/office/powerpoint/2010/main" val="272054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8CB5-A882-14A4-3036-DD70DADA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7427FD1-EEDD-75A4-DBAA-E56308EF5A1B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cs typeface="Arial" pitchFamily="34" charset="-120"/>
              </a:rPr>
              <a:t>GameState and Input Processing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6A2D40-0C52-C16F-41E3-747FEC17D5D9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E528DAF-CA84-5E09-DF38-4372FC7DAA15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D1B8F83-6D5F-A53E-BD96-49BC2E090AE1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882D943-BD90-0FAD-F535-99388AEFDA8D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9F976B-9252-5927-E852-1B214BFF8D52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E3FFB6B8-85FC-F1C3-72B1-6C3FD3CD8026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8C23A8-921B-F471-C1D6-EE76F22B764D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A11C0804-C15D-A0C9-02CB-B5DE207EC325}"/>
              </a:ext>
            </a:extLst>
          </p:cNvPr>
          <p:cNvSpPr/>
          <p:nvPr/>
        </p:nvSpPr>
        <p:spPr>
          <a:xfrm>
            <a:off x="264957" y="645217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1051560" y="2011680"/>
            <a:ext cx="4905755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234439" y="2121408"/>
            <a:ext cx="365760" cy="365760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2121408"/>
            <a:ext cx="4082795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5B2D8E"/>
                </a:solidFill>
                <a:latin typeface="Arial"/>
              </a:rPr>
              <a:t>GameState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578608"/>
            <a:ext cx="4494275" cy="1463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Maintains the authoritative state used by the narrative system.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Holds information that influences the generated narrative.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Supports state and inventory updates, verified in testing.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Updates are atomic and applied only after the response passes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4114800"/>
            <a:ext cx="761999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location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5311" y="4114800"/>
            <a:ext cx="90678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characters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95244" y="4114800"/>
            <a:ext cx="68961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objects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8005" y="4114800"/>
            <a:ext cx="834389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inventory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4453128"/>
            <a:ext cx="1123949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relationships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7262" y="4453128"/>
            <a:ext cx="61722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events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67633" y="4453128"/>
            <a:ext cx="68961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0395" y="4453128"/>
            <a:ext cx="472439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turn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2011680"/>
            <a:ext cx="4905755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4516" y="2121408"/>
            <a:ext cx="365760" cy="365760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0003" y="2121408"/>
            <a:ext cx="4082795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5B2D8E"/>
                </a:solidFill>
                <a:latin typeface="Arial"/>
              </a:rPr>
              <a:t>Input 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2578608"/>
            <a:ext cx="4494275" cy="14630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Receives interaction information (speech or action).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Converts it into a structured Interaction representation.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Controlled interface between application logic and the narrative pipeline.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50" b="0" i="0">
                <a:solidFill>
                  <a:srgbClr val="2E2340"/>
                </a:solidFill>
                <a:latin typeface="Arial"/>
              </a:rPr>
              <a:t>The LLM does not need to understand application implementation details.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60236" y="4114800"/>
            <a:ext cx="54483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input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8217" y="4114800"/>
            <a:ext cx="90678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input_type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8150" y="4114800"/>
            <a:ext cx="126873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input_character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0236" y="4453128"/>
            <a:ext cx="1558290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0" i="0">
                <a:solidFill>
                  <a:srgbClr val="3D1F5E"/>
                </a:solidFill>
                <a:latin typeface="Courier New"/>
              </a:rPr>
              <a:t>responder_character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" y="5074920"/>
            <a:ext cx="2247137" cy="868680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Interaction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C9B8DE"/>
                </a:solidFill>
                <a:latin typeface="Arial"/>
              </a:rPr>
              <a:t>player speech / action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35273" y="5509260"/>
            <a:ext cx="292608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664457" y="5074920"/>
            <a:ext cx="2247137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Structured Input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756B85"/>
                </a:solidFill>
                <a:latin typeface="Arial"/>
              </a:rPr>
              <a:t>Interaction model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8171" y="5509260"/>
            <a:ext cx="292608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277355" y="5074920"/>
            <a:ext cx="2247137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Narrative Pipeline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756B85"/>
                </a:solidFill>
                <a:latin typeface="Arial"/>
              </a:rPr>
              <a:t>context · generate · validate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61069" y="5509260"/>
            <a:ext cx="292608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890253" y="5074920"/>
            <a:ext cx="2247137" cy="868680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State Update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C9B8DE"/>
                </a:solidFill>
                <a:latin typeface="Arial"/>
              </a:rPr>
              <a:t>committed after validation</a:t>
            </a:r>
          </a:p>
        </p:txBody>
      </p:sp>
    </p:spTree>
    <p:extLst>
      <p:ext uri="{BB962C8B-B14F-4D97-AF65-F5344CB8AC3E}">
        <p14:creationId xmlns:p14="http://schemas.microsoft.com/office/powerpoint/2010/main" val="195580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8CB5-A882-14A4-3036-DD70DADA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7427FD1-EEDD-75A4-DBAA-E56308EF5A1B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cs typeface="Arial" pitchFamily="34" charset="-120"/>
              </a:rPr>
              <a:t>Context Retrieval / RAG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6A2D40-0C52-C16F-41E3-747FEC17D5D9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E528DAF-CA84-5E09-DF38-4372FC7DAA15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D1B8F83-6D5F-A53E-BD96-49BC2E090AE1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882D943-BD90-0FAD-F535-99388AEFDA8D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9F976B-9252-5927-E852-1B214BFF8D52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E3FFB6B8-85FC-F1C3-72B1-6C3FD3CD8026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8C23A8-921B-F471-C1D6-EE76F22B764D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A11C0804-C15D-A0C9-02CB-B5DE207EC325}"/>
              </a:ext>
            </a:extLst>
          </p:cNvPr>
          <p:cNvSpPr/>
          <p:nvPr/>
        </p:nvSpPr>
        <p:spPr>
          <a:xfrm>
            <a:off x="264957" y="645217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1143000" y="2011680"/>
            <a:ext cx="5120640" cy="21488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 marL="201168" indent="-201168">
              <a:spcAft>
                <a:spcPts val="5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E2340"/>
                </a:solidFill>
                <a:latin typeface="Arial"/>
              </a:rPr>
              <a:t>Retrieval-Augmented Generation supplies project-specific knowledge to the LLM at generation time.</a:t>
            </a:r>
          </a:p>
          <a:p>
            <a:pPr algn="l" marL="201168" indent="-201168">
              <a:spcAft>
                <a:spcPts val="5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E2340"/>
                </a:solidFill>
                <a:latin typeface="Arial"/>
              </a:rPr>
              <a:t>Maintained as a separate module, independent of model inference.</a:t>
            </a:r>
          </a:p>
          <a:p>
            <a:pPr algn="l" marL="201168" indent="-201168">
              <a:spcAft>
                <a:spcPts val="5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E2340"/>
                </a:solidFill>
                <a:latin typeface="Arial"/>
              </a:rPr>
              <a:t>Knowledge covers world lore, characters, locations, items and world rules.</a:t>
            </a:r>
          </a:p>
          <a:p>
            <a:pPr algn="l" marL="201168" indent="-201168">
              <a:spcAft>
                <a:spcPts val="5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300" b="0" i="0">
                <a:solidFill>
                  <a:srgbClr val="2E2340"/>
                </a:solidFill>
                <a:latin typeface="Arial"/>
              </a:rPr>
              <a:t>Retrieved context is combined with the processed interaction before generation.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224528"/>
            <a:ext cx="246887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4297680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756B85"/>
                </a:solidFill>
                <a:latin typeface="Arial"/>
              </a:rPr>
              <a:t>RAG PROVIDES</a:t>
            </a:r>
          </a:p>
          <a:p>
            <a:pPr algn="l">
              <a:spcBef>
                <a:spcPts val="300"/>
              </a:spcBef>
              <a:buNone/>
            </a:pPr>
            <a:r>
              <a:rPr sz="1150" b="1" i="0">
                <a:solidFill>
                  <a:srgbClr val="5B2D8E"/>
                </a:solidFill>
                <a:latin typeface="Arial"/>
              </a:rPr>
              <a:t>Stable world knowledge: lore, personas, locations, items,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59" y="4224528"/>
            <a:ext cx="2468879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931920" y="4297680"/>
            <a:ext cx="2194560" cy="9601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756B85"/>
                </a:solidFill>
                <a:latin typeface="Arial"/>
              </a:rPr>
              <a:t>GAMESTATE OWNS</a:t>
            </a:r>
          </a:p>
          <a:p>
            <a:pPr algn="l">
              <a:spcBef>
                <a:spcPts val="300"/>
              </a:spcBef>
              <a:buNone/>
            </a:pPr>
            <a:r>
              <a:rPr sz="1150" b="1" i="0">
                <a:solidFill>
                  <a:srgbClr val="5B2D8E"/>
                </a:solidFill>
                <a:latin typeface="Arial"/>
              </a:rPr>
              <a:t>Dynamic facts: location, inventory, object states,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4406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RAG never overrides dynamic GameState.</a:t>
            </a:r>
          </a:p>
          <a:p>
            <a:pPr algn="l">
              <a:buNone/>
            </a:pPr>
            <a:r>
              <a:rPr sz="1050" b="0" i="1">
                <a:solidFill>
                  <a:srgbClr val="756B85"/>
                </a:solidFill>
                <a:latin typeface="Arial"/>
              </a:rPr>
              <a:t>Retrieval precision, recall and ranking quality have not yet been quantitatively benchmarked.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2011680"/>
            <a:ext cx="44805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Structured Input  →  RAGQuery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756B85"/>
                </a:solidFill>
                <a:latin typeface="Arial"/>
              </a:rPr>
              <a:t>query text · input type · location · characters · entities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9680" y="2788920"/>
            <a:ext cx="0" cy="219456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29400" y="3035808"/>
            <a:ext cx="448056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Indexing &amp; Relevance Scoring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756B85"/>
                </a:solidFill>
                <a:latin typeface="Arial"/>
              </a:rPr>
              <a:t>weighted inverted index · IDF scaling · entity / location boosts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69680" y="3813048"/>
            <a:ext cx="0" cy="219456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29400" y="4059936"/>
            <a:ext cx="4480560" cy="749808"/>
          </a:xfrm>
          <a:prstGeom prst="roundRect">
            <a:avLst>
              <a:gd name="adj" fmla="val 12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3D1F5E"/>
                </a:solidFill>
                <a:latin typeface="Arial"/>
              </a:rPr>
              <a:t>Top-K Relevant Context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3D1F5E"/>
                </a:solidFill>
                <a:latin typeface="Arial"/>
              </a:rPr>
              <a:t>minimum-score threshold · empty result when nothing is relevant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0" y="4837176"/>
            <a:ext cx="0" cy="219456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29400" y="5084064"/>
            <a:ext cx="4480560" cy="749808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Prompt / Context Construction</a:t>
            </a:r>
          </a:p>
          <a:p>
            <a:pPr algn="ctr">
              <a:spcBef>
                <a:spcPts val="200"/>
              </a:spcBef>
              <a:buNone/>
            </a:pPr>
            <a:r>
              <a:rPr sz="1050" b="0" i="0">
                <a:solidFill>
                  <a:srgbClr val="C9B8DE"/>
                </a:solidFill>
                <a:latin typeface="Arial"/>
              </a:rPr>
              <a:t>ContextBuilder assembles the NarrativeContext for the LLM</a:t>
            </a:r>
          </a:p>
        </p:txBody>
      </p:sp>
    </p:spTree>
    <p:extLst>
      <p:ext uri="{BB962C8B-B14F-4D97-AF65-F5344CB8AC3E}">
        <p14:creationId xmlns:p14="http://schemas.microsoft.com/office/powerpoint/2010/main" val="195580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8CB5-A882-14A4-3036-DD70DADA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A7427FD1-EEDD-75A4-DBAA-E56308EF5A1B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cs typeface="Arial" pitchFamily="34" charset="-120"/>
              </a:rPr>
              <a:t>LLM Integration and Narrative Generation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6A2D40-0C52-C16F-41E3-747FEC17D5D9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E528DAF-CA84-5E09-DF38-4372FC7DAA15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D1B8F83-6D5F-A53E-BD96-49BC2E090AE1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882D943-BD90-0FAD-F535-99388AEFDA8D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9F976B-9252-5927-E852-1B214BFF8D52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E3FFB6B8-85FC-F1C3-72B1-6C3FD3CD8026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8C23A8-921B-F471-C1D6-EE76F22B764D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A11C0804-C15D-A0C9-02CB-B5DE207EC325}"/>
              </a:ext>
            </a:extLst>
          </p:cNvPr>
          <p:cNvSpPr/>
          <p:nvPr/>
        </p:nvSpPr>
        <p:spPr>
          <a:xfrm>
            <a:off x="264957" y="645217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1051560" y="2011680"/>
            <a:ext cx="1452371" cy="777240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Input + Retrieved Context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31364" y="2400300"/>
            <a:ext cx="21945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78252" y="2011680"/>
            <a:ext cx="1452371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Prompt Construction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58056" y="2400300"/>
            <a:ext cx="21945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04943" y="2011680"/>
            <a:ext cx="1452371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LLM Integration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4747" y="2400300"/>
            <a:ext cx="21945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31636" y="2011680"/>
            <a:ext cx="1452371" cy="777240"/>
          </a:xfrm>
          <a:prstGeom prst="roundRect">
            <a:avLst>
              <a:gd name="adj" fmla="val 12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LoRA-Adapted Model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1439" y="2400300"/>
            <a:ext cx="219456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958328" y="2011680"/>
            <a:ext cx="1452371" cy="777240"/>
          </a:xfrm>
          <a:prstGeom prst="roundRect">
            <a:avLst>
              <a:gd name="adj" fmla="val 12000"/>
            </a:avLst>
          </a:prstGeom>
          <a:solidFill>
            <a:srgbClr val="3D1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Generated Narrative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38131" y="2400300"/>
            <a:ext cx="219457" cy="0"/>
          </a:xfrm>
          <a:prstGeom prst="line">
            <a:avLst/>
          </a:prstGeom>
          <a:ln w="22225">
            <a:solidFill>
              <a:srgbClr val="5B2D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85020" y="2011680"/>
            <a:ext cx="1452371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B2D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buNone/>
            </a:pPr>
            <a:r>
              <a:rPr sz="1200" b="1" i="0">
                <a:solidFill>
                  <a:srgbClr val="3D1F5E"/>
                </a:solidFill>
                <a:latin typeface="Arial"/>
              </a:rPr>
              <a:t>Response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2999232"/>
            <a:ext cx="544068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52728" y="3072384"/>
            <a:ext cx="5074920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B2D8E"/>
                </a:solidFill>
                <a:latin typeface="Arial"/>
              </a:rPr>
              <a:t>LLM Integration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3456432"/>
            <a:ext cx="5074920" cy="19659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E2340"/>
                </a:solidFill>
                <a:latin typeface="Arial"/>
              </a:rPr>
              <a:t>Model interaction is isolated in an integration / abstraction layer.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E2340"/>
                </a:solidFill>
                <a:latin typeface="Arial"/>
              </a:rPr>
              <a:t>Loads the base model and LoRA adapter through this layer.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E2340"/>
                </a:solidFill>
                <a:latin typeface="Arial"/>
              </a:rPr>
              <a:t>Prompt combines task, setting, characters, world state, history, retrieved knowledge and current input.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E2340"/>
                </a:solidFill>
                <a:latin typeface="Arial"/>
              </a:rPr>
              <a:t>Generates responder-character speech or narrator descriptions.</a:t>
            </a:r>
          </a:p>
          <a:p>
            <a:pPr algn="l" marL="201168" indent="-201168">
              <a:spcAft>
                <a:spcPts val="300"/>
              </a:spcAft>
              <a:buClr>
                <a:srgbClr val="5B2D8E"/>
              </a:buClr>
              <a:buSzPct val="100000"/>
              <a:buFont typeface="Arial"/>
              <a:buChar char="●"/>
            </a:pPr>
            <a:r>
              <a:rPr sz="1200" b="0" i="0">
                <a:solidFill>
                  <a:srgbClr val="2E2340"/>
                </a:solidFill>
                <a:latin typeface="Arial"/>
              </a:rPr>
              <a:t>Model can be replaced or reconfigured without restructuring the application.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2999232"/>
            <a:ext cx="4416551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903720" y="3072384"/>
            <a:ext cx="4050791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B2D8E"/>
                </a:solidFill>
                <a:latin typeface="Arial"/>
              </a:rPr>
              <a:t>Adapted Model Configuration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511296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56B85"/>
                </a:solidFill>
                <a:latin typeface="Arial"/>
              </a:rPr>
              <a:t>Base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511296"/>
            <a:ext cx="2633471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SmolLM2-1.7B-Instruct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895344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56B85"/>
                </a:solidFill>
                <a:latin typeface="Arial"/>
              </a:rPr>
              <a:t>Adaptation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895344"/>
            <a:ext cx="2633471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LoRA (PEFT) · r = 16, α = 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279392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56B85"/>
                </a:solidFill>
                <a:latin typeface="Arial"/>
              </a:rPr>
              <a:t>Target modules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279392"/>
            <a:ext cx="2633471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q, k, v, o projections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663440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56B85"/>
                </a:solidFill>
                <a:latin typeface="Arial"/>
              </a:rPr>
              <a:t>CUDA loading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663440"/>
            <a:ext cx="2633471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4-bit NF4 quantisation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047488"/>
            <a:ext cx="1417320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756B85"/>
                </a:solidFill>
                <a:latin typeface="Arial"/>
              </a:rPr>
              <a:t>Decoding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5047488"/>
            <a:ext cx="2633471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≤128 new tokens · T 0.7 · top-p 0.9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641848"/>
            <a:ext cx="1188720" cy="329184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050" b="1" i="0">
                <a:solidFill>
                  <a:srgbClr val="5B2D8E"/>
                </a:solidFill>
                <a:latin typeface="Arial"/>
              </a:rPr>
              <a:t>LoRA artifacts: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40280" y="5669280"/>
            <a:ext cx="1340358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850" b="0" i="0">
                <a:solidFill>
                  <a:srgbClr val="3D1F5E"/>
                </a:solidFill>
                <a:latin typeface="Courier New"/>
              </a:rPr>
              <a:t>adapter_config.json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90366" y="5669280"/>
            <a:ext cx="1728977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850" b="0" i="0">
                <a:solidFill>
                  <a:srgbClr val="3D1F5E"/>
                </a:solidFill>
                <a:latin typeface="Courier New"/>
              </a:rPr>
              <a:t>adapter_model.safetensors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29072" y="5669280"/>
            <a:ext cx="1016508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850" b="0" i="0">
                <a:solidFill>
                  <a:srgbClr val="3D1F5E"/>
                </a:solidFill>
                <a:latin typeface="Courier New"/>
              </a:rPr>
              <a:t>tokenizer.json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55308" y="5669280"/>
            <a:ext cx="1469898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850" b="0" i="0">
                <a:solidFill>
                  <a:srgbClr val="3D1F5E"/>
                </a:solidFill>
                <a:latin typeface="Courier New"/>
              </a:rPr>
              <a:t>tokenizer_config.json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34934" y="5669280"/>
            <a:ext cx="1340358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850" b="0" i="0">
                <a:solidFill>
                  <a:srgbClr val="3D1F5E"/>
                </a:solidFill>
                <a:latin typeface="Courier New"/>
              </a:rPr>
              <a:t>chat_template.jinja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85020" y="5669280"/>
            <a:ext cx="1210818" cy="27432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850" b="0" i="0">
                <a:solidFill>
                  <a:srgbClr val="3D1F5E"/>
                </a:solidFill>
                <a:latin typeface="Courier New"/>
              </a:rPr>
              <a:t>training_args.bin</a:t>
            </a:r>
          </a:p>
        </p:txBody>
      </p:sp>
    </p:spTree>
    <p:extLst>
      <p:ext uri="{BB962C8B-B14F-4D97-AF65-F5344CB8AC3E}">
        <p14:creationId xmlns:p14="http://schemas.microsoft.com/office/powerpoint/2010/main" val="195580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F215-2C14-C2A6-3CEE-B2093CAD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58E95EB0-147C-FFF1-4ED9-6887BB44FBA8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cs typeface="Arial" pitchFamily="34" charset="-120"/>
              </a:rPr>
              <a:t>Implementation Progress – Module Wise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7235858-0C7F-301D-E430-36B3B21EA8FB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90BE2E7-3FA9-9360-D6C6-267F157CA776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ED9249D-7756-B7DF-1D27-48E5769679B1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CD76166-E31E-8C40-9ADF-FA5F51079476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73BD12-B270-5D94-A5E6-91CBEDC5C4A3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46FAC581-4683-DABD-445E-ED1AF3FB6519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A1853F-2C70-F00B-E0D2-0507698AB729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77233C17-DE41-6195-2060-3B76E8C21A13}"/>
              </a:ext>
            </a:extLst>
          </p:cNvPr>
          <p:cNvSpPr/>
          <p:nvPr/>
        </p:nvSpPr>
        <p:spPr>
          <a:xfrm>
            <a:off x="330271" y="64380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51560" y="2011680"/>
          <a:ext cx="10085832" cy="372160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46120"/>
                <a:gridCol w="2514600"/>
                <a:gridCol w="4325112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Evidence / Notes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GameState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State models, manager, updater and validator with unit tests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Input / State Processing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InputInteractionProcessor and ContextBuilder with tests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RAG / Retrieval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D1F5E"/>
                          </a:solidFill>
                          <a:latin typeface="Arial"/>
                        </a:rPr>
                        <a:t>Implemented / Integration Stage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Knowledge loader, inverted index and retriever with tests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LLM Integration Layer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NarrativeGenerator and NarrativePromptBuilder with prompt tests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LoRA Adapted Model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Available &amp; Loaded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SmolLM2-1.7B + LoRA adapter loaded on CUDA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Narrative Generation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Functionally Verified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Pipeline with response validation; preliminary end-to-end runs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Testing Infrastructure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210 tests passed, 1 skipped; 2048-token model execution test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Game / Interactive Input Integration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D1F5E"/>
                          </a:solidFill>
                          <a:latin typeface="Arial"/>
                        </a:rPr>
                        <a:t>Remaining Refinement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5C5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Interactive user input and gameplay integration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Narrative Quality Evaluation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756B85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ECE9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Coherence, relevance, consistency, baseline comparison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D1F5E"/>
                          </a:solidFill>
                          <a:latin typeface="Arial"/>
                        </a:rPr>
                        <a:t>Performance Benchmarking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756B85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ECE9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E2340"/>
                          </a:solidFill>
                          <a:latin typeface="Arial"/>
                        </a:rPr>
                        <a:t>Latency, memory and throughput under representative load</a:t>
                      </a:r>
                    </a:p>
                  </a:txBody>
                  <a:tcPr marL="109728" marR="109728" marT="18288" marB="18288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E1D6EE"/>
                      </a:solidFill>
                    </a:lnT>
                    <a:lnB w="9525">
                      <a:solidFill>
                        <a:srgbClr val="E1D6EE"/>
                      </a:solidFill>
                    </a:lnB>
                    <a:solidFill>
                      <a:srgbClr val="FAF8FC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051560" y="5861304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Implemented / Verified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7248" y="5861304"/>
            <a:ext cx="2560320" cy="256032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1" i="0">
                <a:solidFill>
                  <a:srgbClr val="3D1F5E"/>
                </a:solidFill>
                <a:latin typeface="Arial"/>
              </a:rPr>
              <a:t>Integration stage / Refinement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4728" y="5861304"/>
            <a:ext cx="772668" cy="256032"/>
          </a:xfrm>
          <a:prstGeom prst="roundRect">
            <a:avLst>
              <a:gd name="adj" fmla="val 50000"/>
            </a:avLst>
          </a:prstGeom>
          <a:solidFill>
            <a:srgbClr val="E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>
              <a:buNone/>
            </a:pPr>
            <a:r>
              <a:rPr sz="950" b="1" i="0">
                <a:solidFill>
                  <a:srgbClr val="756B85"/>
                </a:solidFill>
                <a:latin typeface="Arial"/>
              </a:rPr>
              <a:t>Pending</a:t>
            </a:r>
          </a:p>
        </p:txBody>
      </p:sp>
    </p:spTree>
    <p:extLst>
      <p:ext uri="{BB962C8B-B14F-4D97-AF65-F5344CB8AC3E}">
        <p14:creationId xmlns:p14="http://schemas.microsoft.com/office/powerpoint/2010/main" val="331906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DE25-ECFA-74D7-7C81-FD36B9BA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61556D9-2D34-0FBA-0EEB-EC30F4B3A176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2D8E"/>
                </a:solidFill>
                <a:latin typeface="Arial" pitchFamily="34" charset="0"/>
                <a:cs typeface="Arial" pitchFamily="34" charset="-120"/>
              </a:rPr>
              <a:t>Outputs / Results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3A3633C-E145-498E-BB6D-0DA65F679C78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6421DDC-C40F-76F6-BADB-C553059304ED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03DF58F-4D6B-F84B-A888-7C00BB1687CA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0A50CEF-0E82-7CC9-595A-0C1B9E8F6D8C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84C76E-1E72-D6B1-1E5E-DAB7D7A76EC3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6224DB95-B92B-0CEB-4A89-BCAE34EAD769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6EF32A-031E-F099-4970-3142C4EA5C52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B6B654CB-305B-8E78-43B8-453CAEE26B84}"/>
              </a:ext>
            </a:extLst>
          </p:cNvPr>
          <p:cNvSpPr/>
          <p:nvPr/>
        </p:nvSpPr>
        <p:spPr>
          <a:xfrm>
            <a:off x="270400" y="636988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1051560" y="1965960"/>
            <a:ext cx="320954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179576" y="2075688"/>
            <a:ext cx="310896" cy="31089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100" b="1" i="0">
                <a:solidFill>
                  <a:srgbClr val="3D1F5E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3624" y="2057400"/>
            <a:ext cx="2569463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Model Loading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9576" y="2478024"/>
            <a:ext cx="2953511" cy="896112"/>
          </a:xfrm>
          <a:prstGeom prst="roundRect">
            <a:avLst>
              <a:gd name="adj" fmla="val 6000"/>
            </a:avLst>
          </a:prstGeom>
          <a:solidFill>
            <a:srgbClr val="FAF8FC"/>
          </a:solidFill>
          <a:ln w="12700">
            <a:solidFill>
              <a:srgbClr val="C9B8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buNone/>
            </a:pPr>
            <a:r>
              <a:rPr sz="950" b="0" i="1">
                <a:solidFill>
                  <a:srgbClr val="756B85"/>
                </a:solidFill>
                <a:latin typeface="Arial"/>
              </a:rPr>
              <a:t>[ Screenshot: model + adapter load log (CUDA)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3410712"/>
            <a:ext cx="2953511" cy="402336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E2340"/>
                </a:solidFill>
                <a:latin typeface="Arial"/>
              </a:rPr>
              <a:t>SmolLM2 + LoRA adapter successfully loaded on CUDA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9704" y="1965960"/>
            <a:ext cx="320954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617720" y="2075688"/>
            <a:ext cx="310896" cy="31089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100" b="1" i="0">
                <a:solidFill>
                  <a:srgbClr val="3D1F5E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2057400"/>
            <a:ext cx="2569463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Automated Testing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2478024"/>
            <a:ext cx="2953511" cy="896112"/>
          </a:xfrm>
          <a:prstGeom prst="roundRect">
            <a:avLst>
              <a:gd name="adj" fmla="val 6000"/>
            </a:avLst>
          </a:prstGeom>
          <a:solidFill>
            <a:srgbClr val="FAF8FC"/>
          </a:solidFill>
          <a:ln w="12700">
            <a:solidFill>
              <a:srgbClr val="C9B8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buNone/>
            </a:pPr>
            <a:r>
              <a:rPr sz="950" b="0" i="1">
                <a:solidFill>
                  <a:srgbClr val="756B85"/>
                </a:solidFill>
                <a:latin typeface="Arial"/>
              </a:rPr>
              <a:t>[ Screenshot: pytest summary line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410712"/>
            <a:ext cx="2953511" cy="402336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E2340"/>
                </a:solidFill>
                <a:latin typeface="Arial"/>
              </a:rPr>
              <a:t>210 tests passed, 1 skipped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7848" y="1965960"/>
            <a:ext cx="320954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055864" y="2075688"/>
            <a:ext cx="310896" cy="31089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100" b="1" i="0">
                <a:solidFill>
                  <a:srgbClr val="3D1F5E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2057400"/>
            <a:ext cx="2569463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Model Execution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4" y="2478024"/>
            <a:ext cx="2953511" cy="896112"/>
          </a:xfrm>
          <a:prstGeom prst="roundRect">
            <a:avLst>
              <a:gd name="adj" fmla="val 6000"/>
            </a:avLst>
          </a:prstGeom>
          <a:solidFill>
            <a:srgbClr val="FA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10727" y="2514600"/>
            <a:ext cx="1234439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Input tensor: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1 × 2048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90888" y="2514600"/>
            <a:ext cx="1563624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Active tokens: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560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7" y="2720340"/>
            <a:ext cx="1234439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Masked tokens: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2041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2720340"/>
            <a:ext cx="1563624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Target tokens: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7" y="2926080"/>
            <a:ext cx="1234439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Forward: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Successful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2926080"/>
            <a:ext cx="1563624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Backward: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Successful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7" y="3131820"/>
            <a:ext cx="1234439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Loss*: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8.100089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3131820"/>
            <a:ext cx="1563624" cy="201168"/>
          </a:xfrm>
          <a:prstGeom prst="rect">
            <a:avLst/>
          </a:prstGeom>
          <a:noFill/>
        </p:spPr>
        <p:txBody>
          <a:bodyPr wrap="none" anchor="ctr" lIns="0" rIns="0" tIns="18288" bIns="18288">
            <a:spAutoFit/>
          </a:bodyPr>
          <a:lstStyle/>
          <a:p>
            <a:pPr algn="l">
              <a:buNone/>
            </a:pPr>
            <a:r>
              <a:rPr sz="850" b="0" i="0">
                <a:solidFill>
                  <a:srgbClr val="756B85"/>
                </a:solidFill>
                <a:latin typeface="Arial"/>
              </a:rPr>
              <a:t>Peak VRAM: </a:t>
            </a:r>
            <a:r>
              <a:rPr sz="900" b="1" i="0">
                <a:solidFill>
                  <a:srgbClr val="3D1F5E"/>
                </a:solidFill>
                <a:latin typeface="Arial"/>
              </a:rPr>
              <a:t>10.335786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5864" y="3410712"/>
            <a:ext cx="2953511" cy="402336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E2340"/>
                </a:solidFill>
                <a:latin typeface="Arial"/>
              </a:rPr>
              <a:t>2048-token forward and backward pass executed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" y="4023360"/>
            <a:ext cx="320954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179576" y="4133088"/>
            <a:ext cx="310896" cy="31089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100" b="1" i="0">
                <a:solidFill>
                  <a:srgbClr val="3D1F5E"/>
                </a:solidFill>
                <a:latin typeface="Arial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63624" y="4114800"/>
            <a:ext cx="2569463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RAG Retrieval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79576" y="4535424"/>
            <a:ext cx="2953511" cy="896112"/>
          </a:xfrm>
          <a:prstGeom prst="roundRect">
            <a:avLst>
              <a:gd name="adj" fmla="val 6000"/>
            </a:avLst>
          </a:prstGeom>
          <a:solidFill>
            <a:srgbClr val="FAF8FC"/>
          </a:solidFill>
          <a:ln w="12700">
            <a:solidFill>
              <a:srgbClr val="C9B8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buNone/>
            </a:pPr>
            <a:r>
              <a:rPr sz="950" b="0" i="1">
                <a:solidFill>
                  <a:srgbClr val="756B85"/>
                </a:solidFill>
                <a:latin typeface="Arial"/>
              </a:rPr>
              <a:t>[ Screenshot: retrieved knowledge for a query 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9576" y="5468112"/>
            <a:ext cx="2953511" cy="402336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E2340"/>
                </a:solidFill>
                <a:latin typeface="Arial"/>
              </a:rPr>
              <a:t>Relevant contextual information retrieved for generation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89704" y="4023360"/>
            <a:ext cx="320954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617720" y="4133088"/>
            <a:ext cx="310896" cy="31089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100" b="1" i="0">
                <a:solidFill>
                  <a:srgbClr val="3D1F5E"/>
                </a:solidFill>
                <a:latin typeface="Arial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1768" y="4114800"/>
            <a:ext cx="2569463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State / Inventory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17720" y="4535424"/>
            <a:ext cx="2953511" cy="896112"/>
          </a:xfrm>
          <a:prstGeom prst="roundRect">
            <a:avLst>
              <a:gd name="adj" fmla="val 6000"/>
            </a:avLst>
          </a:prstGeom>
          <a:solidFill>
            <a:srgbClr val="FAF8FC"/>
          </a:solidFill>
          <a:ln w="12700">
            <a:solidFill>
              <a:srgbClr val="C9B8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buNone/>
            </a:pPr>
            <a:r>
              <a:rPr sz="950" b="0" i="1">
                <a:solidFill>
                  <a:srgbClr val="756B85"/>
                </a:solidFill>
                <a:latin typeface="Arial"/>
              </a:rPr>
              <a:t>[ Screenshot: GameState before / after an action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5468112"/>
            <a:ext cx="2953511" cy="402336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E2340"/>
                </a:solidFill>
                <a:latin typeface="Arial"/>
              </a:rPr>
              <a:t>GameState and inventory updates verified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27848" y="4023360"/>
            <a:ext cx="320954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8055864" y="4133088"/>
            <a:ext cx="310896" cy="31089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100" b="1" i="0">
                <a:solidFill>
                  <a:srgbClr val="3D1F5E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9912" y="4114800"/>
            <a:ext cx="2569463" cy="34747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5B2D8E"/>
                </a:solidFill>
                <a:latin typeface="Arial"/>
              </a:rPr>
              <a:t>Narrative Generation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864" y="4535424"/>
            <a:ext cx="2953511" cy="896112"/>
          </a:xfrm>
          <a:prstGeom prst="roundRect">
            <a:avLst>
              <a:gd name="adj" fmla="val 6000"/>
            </a:avLst>
          </a:prstGeom>
          <a:solidFill>
            <a:srgbClr val="FAF8FC"/>
          </a:solidFill>
          <a:ln w="12700">
            <a:solidFill>
              <a:srgbClr val="C9B8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buNone/>
            </a:pPr>
            <a:r>
              <a:rPr sz="950" b="0" i="1">
                <a:solidFill>
                  <a:srgbClr val="756B85"/>
                </a:solidFill>
                <a:latin typeface="Arial"/>
              </a:rPr>
              <a:t>[ Screenshot: player input and generated response 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55864" y="5468112"/>
            <a:ext cx="2953511" cy="402336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00" b="1" i="0">
                <a:solidFill>
                  <a:srgbClr val="2E2340"/>
                </a:solidFill>
                <a:latin typeface="Arial"/>
              </a:rPr>
              <a:t>Context-aware narrative output generated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5961888"/>
            <a:ext cx="10085832" cy="256032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950" b="0" i="1">
                <a:solidFill>
                  <a:srgbClr val="756B85"/>
                </a:solidFill>
                <a:latin typeface="Arial"/>
              </a:rPr>
              <a:t>*Loss is an execution observation from a single test configuration, not a narrative-quality score. Live demonstration follows this slide.</a:t>
            </a:r>
          </a:p>
        </p:txBody>
      </p:sp>
    </p:spTree>
    <p:extLst>
      <p:ext uri="{BB962C8B-B14F-4D97-AF65-F5344CB8AC3E}">
        <p14:creationId xmlns:p14="http://schemas.microsoft.com/office/powerpoint/2010/main" val="2180162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EFED-A05B-C294-FA90-8EED21A1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8B3E2F4-4B63-7650-7F96-9F95A1116242}"/>
              </a:ext>
            </a:extLst>
          </p:cNvPr>
          <p:cNvSpPr/>
          <p:nvPr/>
        </p:nvSpPr>
        <p:spPr>
          <a:xfrm>
            <a:off x="1554480" y="457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5B2D8E"/>
                </a:solidFill>
                <a:latin typeface="Arial" pitchFamily="34" charset="0"/>
                <a:cs typeface="Arial" pitchFamily="34" charset="-120"/>
              </a:rPr>
              <a:t>Overall Project Progress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8153B20-1E6D-F851-D892-BEC9BAF23A9C}"/>
              </a:ext>
            </a:extLst>
          </p:cNvPr>
          <p:cNvSpPr/>
          <p:nvPr/>
        </p:nvSpPr>
        <p:spPr>
          <a:xfrm>
            <a:off x="1572768" y="1298448"/>
            <a:ext cx="1280160" cy="50292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2E6829E-54F3-6D77-9080-2EA31BA70001}"/>
              </a:ext>
            </a:extLst>
          </p:cNvPr>
          <p:cNvSpPr/>
          <p:nvPr/>
        </p:nvSpPr>
        <p:spPr>
          <a:xfrm>
            <a:off x="822960" y="1828799"/>
            <a:ext cx="10543032" cy="4430485"/>
          </a:xfrm>
          <a:prstGeom prst="roundRect">
            <a:avLst>
              <a:gd name="adj" fmla="val 8000"/>
            </a:avLst>
          </a:prstGeom>
          <a:solidFill>
            <a:srgbClr val="F4F1F8"/>
          </a:solidFill>
          <a:ln w="12700">
            <a:solidFill>
              <a:srgbClr val="E1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C867855-EAA1-1E2C-6AA5-72AD29ECAC08}"/>
              </a:ext>
            </a:extLst>
          </p:cNvPr>
          <p:cNvSpPr/>
          <p:nvPr/>
        </p:nvSpPr>
        <p:spPr>
          <a:xfrm>
            <a:off x="5788152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0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1A2855D-5955-5FD0-639B-9F9EA8BF7E65}"/>
              </a:ext>
            </a:extLst>
          </p:cNvPr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2D9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5AE621-2389-B5E8-320F-30E7ABB7902C}"/>
              </a:ext>
            </a:extLst>
          </p:cNvPr>
          <p:cNvGrpSpPr/>
          <p:nvPr/>
        </p:nvGrpSpPr>
        <p:grpSpPr>
          <a:xfrm>
            <a:off x="510430" y="502920"/>
            <a:ext cx="822960" cy="822960"/>
            <a:chOff x="510430" y="502920"/>
            <a:chExt cx="822960" cy="822960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43193D59-438E-4262-A910-003EE9CF2848}"/>
                </a:ext>
              </a:extLst>
            </p:cNvPr>
            <p:cNvSpPr/>
            <p:nvPr/>
          </p:nvSpPr>
          <p:spPr>
            <a:xfrm>
              <a:off x="510430" y="502920"/>
              <a:ext cx="822960" cy="822960"/>
            </a:xfrm>
            <a:prstGeom prst="ellipse">
              <a:avLst/>
            </a:prstGeom>
            <a:solidFill>
              <a:srgbClr val="F5C51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743690E-4D00-93D4-8329-997273CAFD3A}"/>
                </a:ext>
              </a:extLst>
            </p:cNvPr>
            <p:cNvSpPr txBox="1"/>
            <p:nvPr/>
          </p:nvSpPr>
          <p:spPr>
            <a:xfrm>
              <a:off x="672627" y="652790"/>
              <a:ext cx="419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b="1" dirty="0">
                  <a:latin typeface="Arial Black" panose="020B0A040201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</p:grpSp>
      <p:sp>
        <p:nvSpPr>
          <p:cNvPr id="8" name="Text 11">
            <a:extLst>
              <a:ext uri="{FF2B5EF4-FFF2-40B4-BE49-F238E27FC236}">
                <a16:creationId xmlns:a16="http://schemas.microsoft.com/office/drawing/2014/main" id="{D9B0A365-B12F-D89F-866D-88187839329E}"/>
              </a:ext>
            </a:extLst>
          </p:cNvPr>
          <p:cNvSpPr/>
          <p:nvPr/>
        </p:nvSpPr>
        <p:spPr>
          <a:xfrm>
            <a:off x="259514" y="648788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000" dirty="0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1234440" y="2011680"/>
          <a:ext cx="32004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234440" y="315468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buNone/>
            </a:pPr>
            <a:r>
              <a:rPr sz="3400" b="1" i="0">
                <a:solidFill>
                  <a:srgbClr val="5B2D8E"/>
                </a:solidFill>
                <a:latin typeface="Arial"/>
              </a:rPr>
              <a:t>~80%</a:t>
            </a:r>
          </a:p>
          <a:p>
            <a:pPr algn="ctr">
              <a:buNone/>
            </a:pPr>
            <a:r>
              <a:rPr sz="1100" b="0" i="0">
                <a:solidFill>
                  <a:srgbClr val="756B85"/>
                </a:solidFill>
                <a:latin typeface="Arial"/>
              </a:rP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035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Overall implementation progress:</a:t>
            </a:r>
          </a:p>
          <a:p>
            <a:pPr algn="ctr">
              <a:buNone/>
            </a:pPr>
            <a:r>
              <a:rPr sz="1150" b="1" i="0">
                <a:solidFill>
                  <a:srgbClr val="3D1F5E"/>
                </a:solidFill>
                <a:latin typeface="Arial"/>
              </a:rPr>
              <a:t>approximately 80%</a:t>
            </a:r>
          </a:p>
          <a:p>
            <a:pPr algn="ctr">
              <a:spcBef>
                <a:spcPts val="200"/>
              </a:spcBef>
              <a:buNone/>
            </a:pPr>
            <a:r>
              <a:rPr sz="1000" b="0" i="1">
                <a:solidFill>
                  <a:srgbClr val="756B85"/>
                </a:solidFill>
                <a:latin typeface="Arial"/>
              </a:rPr>
              <a:t>An implementation-progress estimate — not an experimental performance score.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2011680"/>
            <a:ext cx="615391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184648" y="2212848"/>
            <a:ext cx="457200" cy="457200"/>
          </a:xfrm>
          <a:prstGeom prst="ellipse">
            <a:avLst/>
          </a:prstGeom>
          <a:solidFill>
            <a:srgbClr val="5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103120"/>
            <a:ext cx="5148071" cy="10515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B2D8E"/>
                </a:solidFill>
                <a:latin typeface="Arial"/>
              </a:rPr>
              <a:t>Core technical pipeline</a:t>
            </a:r>
          </a:p>
          <a:p>
            <a:pPr algn="l">
              <a:spcBef>
                <a:spcPts val="200"/>
              </a:spcBef>
              <a:buNone/>
            </a:pPr>
            <a:r>
              <a:rPr sz="1250" b="1" i="0">
                <a:solidFill>
                  <a:srgbClr val="2E2340"/>
                </a:solidFill>
                <a:latin typeface="Arial"/>
              </a:rPr>
              <a:t>Substantially implemented and functionally verified</a:t>
            </a:r>
          </a:p>
          <a:p>
            <a:pPr algn="l">
              <a:spcBef>
                <a:spcPts val="300"/>
              </a:spcBef>
              <a:buNone/>
            </a:pPr>
            <a:r>
              <a:rPr sz="1050" b="0" i="0">
                <a:solidFill>
                  <a:srgbClr val="756B85"/>
                </a:solidFill>
                <a:latin typeface="Arial"/>
              </a:rPr>
              <a:t>GameState · input processing · RAG · LLM integration · LoRA model · pipeline · tests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401568"/>
            <a:ext cx="6153912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184648" y="3566160"/>
            <a:ext cx="457200" cy="45720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950" b="1" i="0">
                <a:solidFill>
                  <a:srgbClr val="3D1F5E"/>
                </a:solidFill>
                <a:latin typeface="Arial"/>
              </a:rPr>
              <a:t>~20%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11296"/>
            <a:ext cx="5148071" cy="6400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5B2D8E"/>
                </a:solidFill>
                <a:latin typeface="Arial"/>
              </a:rPr>
              <a:t>Remaining work</a:t>
            </a:r>
          </a:p>
          <a:p>
            <a:pPr algn="l">
              <a:spcBef>
                <a:spcPts val="200"/>
              </a:spcBef>
              <a:buNone/>
            </a:pPr>
            <a:r>
              <a:rPr sz="1200" b="1" i="0">
                <a:solidFill>
                  <a:srgbClr val="2E2340"/>
                </a:solidFill>
                <a:latin typeface="Arial"/>
              </a:rPr>
              <a:t>Final system evaluation and complete interactive integration: ongoing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57800" y="44256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513832" y="431596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Interactive user-input integration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6156" y="442569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362188" y="431596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Final gameplay / application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48371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513832" y="472744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Larger end-to-end 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6156" y="483717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62188" y="472744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Narrative-quality evaluation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52486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513832" y="513892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Baseline comparison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06156" y="524865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62188" y="513892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Retrieval-quality evaluation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57800" y="566013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513832" y="555040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Latency / performance benchmarking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06156" y="5660136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62188" y="5550408"/>
            <a:ext cx="2482596" cy="36576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E2340"/>
                </a:solidFill>
                <a:latin typeface="Arial"/>
              </a:rPr>
              <a:t>Robustness and user evaluation</a:t>
            </a:r>
          </a:p>
        </p:txBody>
      </p:sp>
    </p:spTree>
    <p:extLst>
      <p:ext uri="{BB962C8B-B14F-4D97-AF65-F5344CB8AC3E}">
        <p14:creationId xmlns:p14="http://schemas.microsoft.com/office/powerpoint/2010/main" val="3474685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B2D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8236" y="320040"/>
            <a:ext cx="8412480" cy="8412480"/>
          </a:xfrm>
          <a:prstGeom prst="ellipse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08676" y="1051560"/>
            <a:ext cx="1371600" cy="1371600"/>
          </a:xfrm>
          <a:prstGeom prst="ellipse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p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28" y="1353312"/>
            <a:ext cx="768096" cy="768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5545836" y="3794760"/>
            <a:ext cx="1097280" cy="54864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Review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Artificial Intelligence and Data Science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800600"/>
            <a:ext cx="12188952" cy="411480"/>
          </a:xfrm>
          <a:prstGeom prst="rect">
            <a:avLst/>
          </a:prstGeom>
          <a:noFill/>
        </p:spPr>
        <p:txBody>
          <a:bodyPr wrap="square" anchor="ctr" lIns="0" rIns="0" tIns="18288" bIns="18288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3D1F5E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267</Words>
  <Application>Microsoft Office PowerPoint</Application>
  <PresentationFormat>Widescreen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SornaShanthi Dhinakaran</cp:lastModifiedBy>
  <cp:revision>5</cp:revision>
  <dcterms:created xsi:type="dcterms:W3CDTF">2026-07-19T18:12:41Z</dcterms:created>
  <dcterms:modified xsi:type="dcterms:W3CDTF">2026-09-11T15:47:42Z</dcterms:modified>
</cp:coreProperties>
</file>